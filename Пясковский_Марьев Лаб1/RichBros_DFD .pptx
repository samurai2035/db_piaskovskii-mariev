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306" r:id="rId3"/>
    <p:sldId id="307" r:id="rId4"/>
    <p:sldId id="308" r:id="rId5"/>
    <p:sldId id="309" r:id="rId6"/>
    <p:sldId id="310" r:id="rId7"/>
    <p:sldId id="314" r:id="rId8"/>
    <p:sldId id="311" r:id="rId9"/>
    <p:sldId id="312" r:id="rId10"/>
    <p:sldId id="313" r:id="rId11"/>
    <p:sldId id="315" r:id="rId12"/>
    <p:sldId id="316" r:id="rId13"/>
    <p:sldId id="317" r:id="rId14"/>
    <p:sldId id="318" r:id="rId15"/>
    <p:sldId id="319" r:id="rId16"/>
    <p:sldId id="304" r:id="rId17"/>
  </p:sldIdLst>
  <p:sldSz cx="9144000" cy="5143500" type="screen16x9"/>
  <p:notesSz cx="6858000" cy="9144000"/>
  <p:embeddedFontLst>
    <p:embeddedFont>
      <p:font typeface="Golos Text" panose="020B0604020202020204" charset="0"/>
      <p:regular r:id="rId19"/>
      <p:bold r:id="rId20"/>
    </p:embeddedFont>
    <p:embeddedFont>
      <p:font typeface="Golos Text SemiBold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0" roundtripDataSignature="AMtx7mgaCMbQNpWWtVNJQerNvXXYwsAk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E10003-722D-410D-9177-6F1E387F6E4C}">
  <a:tblStyle styleId="{3BE10003-722D-410D-9177-6F1E387F6E4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BE6E8"/>
          </a:solidFill>
        </a:fill>
      </a:tcStyle>
    </a:wholeTbl>
    <a:band1H>
      <a:tcTxStyle/>
      <a:tcStyle>
        <a:tcBdr/>
        <a:fill>
          <a:solidFill>
            <a:srgbClr val="F8CAC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8CAC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45" y="48"/>
      </p:cViewPr>
      <p:guideLst>
        <p:guide orient="horz" pos="1611"/>
        <p:guide pos="2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60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134" name="Google Shape;1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Назначение ИС и цель работы.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Матрица отражает все потоки диаграммы A0 по каждому процессу.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Процесс 0 разложен на четыре процесса: A1 Учитывать яхты и инвентарь, A2 Вести прокат, A3 Обслуживать и ремонтировать, A4 Учитывать расходы. Восемь накопителей D1–D8.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Клиенты и история проката разделены на разные накопители, владельцы вынесены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Диспетчер добавлен как внешняя сущность по замечанию преподавателя.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Детализация A2 сбалансирована с диаграммой A0.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Ветка заключения договора: от заявки клиента до подписанного договора.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Ветка ведения аренды: передача яхты клиенту и приём обратно по акту возврата.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Бронирование, согласование условий и ведение аренды. Отказ формируется при недоступной яхте.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2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2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2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2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2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>
            <a:spLocks noGrp="1"/>
          </p:cNvSpPr>
          <p:nvPr>
            <p:ph type="body" idx="1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3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Пользовательский макет">
  <p:cSld name="5_Пользовательский маке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4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  <a:noFill/>
          <a:ln>
            <a:noFill/>
          </a:ln>
        </p:spPr>
      </p:sp>
      <p:sp>
        <p:nvSpPr>
          <p:cNvPr id="26" name="Google Shape;26;p34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5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5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5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kfql">
  <p:cSld name="Ckfql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6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body" idx="1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>
            <a:spLocks noGrp="1"/>
          </p:cNvSpPr>
          <p:nvPr>
            <p:ph type="body" idx="1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7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льзовательский макет">
  <p:cSld name="Пользовательский макет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8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8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8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8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8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9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  <a:noFill/>
          <a:ln>
            <a:noFill/>
          </a:ln>
        </p:spPr>
      </p:sp>
      <p:sp>
        <p:nvSpPr>
          <p:cNvPr id="48" name="Google Shape;48;p39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9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Пользовательский макет">
  <p:cSld name="6_Пользовательский макет"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0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0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1"/>
          <p:cNvSpPr txBox="1">
            <a:spLocks noGrp="1"/>
          </p:cNvSpPr>
          <p:nvPr>
            <p:ph type="body" idx="1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41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Пользовательский макет">
  <p:cSld name="3_Пользовательский макет">
    <p:bg>
      <p:bgPr>
        <a:solidFill>
          <a:srgbClr val="FFFFFF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2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  <a:noFill/>
          <a:ln>
            <a:noFill/>
          </a:ln>
        </p:spPr>
      </p:sp>
      <p:sp>
        <p:nvSpPr>
          <p:cNvPr id="59" name="Google Shape;59;p42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Пользовательский макет">
  <p:cSld name="7_Пользовательский макет"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3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3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Пользовательский макет">
  <p:cSld name="1_Пользовательский макет"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4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44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44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44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44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Пользовательский макет">
  <p:cSld name="4_Пользовательский макет"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5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5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72" name="Google Shape;72;p45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Пользовательский макет">
  <p:cSld name="8_Пользовательский макет">
    <p:bg>
      <p:bgPr>
        <a:solidFill>
          <a:srgbClr val="FFFFFF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6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6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Пользовательский макет">
  <p:cSld name="2_Пользовательский макет"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7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7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47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47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7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8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8"/>
          <p:cNvSpPr txBox="1">
            <a:spLocks noGrp="1"/>
          </p:cNvSpPr>
          <p:nvPr>
            <p:ph type="body" idx="1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48"/>
          <p:cNvSpPr>
            <a:spLocks noGrp="1"/>
          </p:cNvSpPr>
          <p:nvPr>
            <p:ph type="pic" idx="2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86" name="Google Shape;86;p48"/>
          <p:cNvSpPr>
            <a:spLocks noGrp="1"/>
          </p:cNvSpPr>
          <p:nvPr>
            <p:ph type="pic" idx="3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Пользовательский макет">
  <p:cSld name="9_Пользовательский макет"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9"/>
          <p:cNvSpPr txBox="1">
            <a:spLocks noGrp="1"/>
          </p:cNvSpPr>
          <p:nvPr>
            <p:ph type="body" idx="1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49"/>
          <p:cNvSpPr txBox="1">
            <a:spLocks noGrp="1"/>
          </p:cNvSpPr>
          <p:nvPr>
            <p:ph type="body" idx="2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49"/>
          <p:cNvSpPr txBox="1">
            <a:spLocks noGrp="1"/>
          </p:cNvSpPr>
          <p:nvPr>
            <p:ph type="body" idx="3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49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0"/>
          <p:cNvSpPr txBox="1">
            <a:spLocks noGrp="1"/>
          </p:cNvSpPr>
          <p:nvPr>
            <p:ph type="body" idx="1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50"/>
          <p:cNvSpPr txBox="1">
            <a:spLocks noGrp="1"/>
          </p:cNvSpPr>
          <p:nvPr>
            <p:ph type="body" idx="2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50"/>
          <p:cNvSpPr txBox="1">
            <a:spLocks noGrp="1"/>
          </p:cNvSpPr>
          <p:nvPr>
            <p:ph type="body" idx="3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50"/>
          <p:cNvSpPr txBox="1">
            <a:spLocks noGrp="1"/>
          </p:cNvSpPr>
          <p:nvPr>
            <p:ph type="body" idx="4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7" name="Google Shape;97;p50"/>
          <p:cNvSpPr txBox="1">
            <a:spLocks noGrp="1"/>
          </p:cNvSpPr>
          <p:nvPr>
            <p:ph type="body" idx="5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8" name="Google Shape;98;p50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50"/>
          <p:cNvSpPr txBox="1">
            <a:spLocks noGrp="1"/>
          </p:cNvSpPr>
          <p:nvPr>
            <p:ph type="body" idx="6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0" name="Google Shape;100;p50"/>
          <p:cNvSpPr>
            <a:spLocks noGrp="1"/>
          </p:cNvSpPr>
          <p:nvPr>
            <p:ph type="pic" idx="7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01" name="Google Shape;101;p50"/>
          <p:cNvSpPr>
            <a:spLocks noGrp="1"/>
          </p:cNvSpPr>
          <p:nvPr>
            <p:ph type="pic" idx="8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  <a:noFill/>
          <a:ln>
            <a:noFill/>
          </a:ln>
        </p:spPr>
      </p:sp>
      <p:sp>
        <p:nvSpPr>
          <p:cNvPr id="102" name="Google Shape;102;p50"/>
          <p:cNvSpPr>
            <a:spLocks noGrp="1"/>
          </p:cNvSpPr>
          <p:nvPr>
            <p:ph type="pic" idx="9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1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1"/>
          <p:cNvSpPr txBox="1">
            <a:spLocks noGrp="1"/>
          </p:cNvSpPr>
          <p:nvPr>
            <p:ph type="body" idx="1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51"/>
          <p:cNvSpPr>
            <a:spLocks noGrp="1"/>
          </p:cNvSpPr>
          <p:nvPr>
            <p:ph type="pic" idx="2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07" name="Google Shape;107;p51"/>
          <p:cNvSpPr>
            <a:spLocks noGrp="1"/>
          </p:cNvSpPr>
          <p:nvPr>
            <p:ph type="pic" idx="3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  <a:noFill/>
          <a:ln>
            <a:noFill/>
          </a:ln>
        </p:spPr>
      </p:sp>
      <p:sp>
        <p:nvSpPr>
          <p:cNvPr id="108" name="Google Shape;108;p51"/>
          <p:cNvSpPr>
            <a:spLocks noGrp="1"/>
          </p:cNvSpPr>
          <p:nvPr>
            <p:ph type="pic" idx="4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09" name="Google Shape;109;p51"/>
          <p:cNvSpPr>
            <a:spLocks noGrp="1"/>
          </p:cNvSpPr>
          <p:nvPr>
            <p:ph type="pic" idx="5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52"/>
          <p:cNvSpPr txBox="1">
            <a:spLocks noGrp="1"/>
          </p:cNvSpPr>
          <p:nvPr>
            <p:ph type="body" idx="1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52"/>
          <p:cNvSpPr>
            <a:spLocks noGrp="1"/>
          </p:cNvSpPr>
          <p:nvPr>
            <p:ph type="pic" idx="2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14" name="Google Shape;114;p52"/>
          <p:cNvSpPr>
            <a:spLocks noGrp="1"/>
          </p:cNvSpPr>
          <p:nvPr>
            <p:ph type="pic" idx="3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  <a:noFill/>
          <a:ln>
            <a:noFill/>
          </a:ln>
        </p:spPr>
      </p:sp>
      <p:sp>
        <p:nvSpPr>
          <p:cNvPr id="115" name="Google Shape;115;p52"/>
          <p:cNvSpPr>
            <a:spLocks noGrp="1"/>
          </p:cNvSpPr>
          <p:nvPr>
            <p:ph type="pic" idx="4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  <a:noFill/>
          <a:ln>
            <a:noFill/>
          </a:ln>
        </p:spPr>
      </p:sp>
      <p:sp>
        <p:nvSpPr>
          <p:cNvPr id="116" name="Google Shape;116;p52"/>
          <p:cNvSpPr>
            <a:spLocks noGrp="1"/>
          </p:cNvSpPr>
          <p:nvPr>
            <p:ph type="pic" idx="5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  <a:noFill/>
          <a:ln>
            <a:noFill/>
          </a:ln>
        </p:spPr>
      </p:sp>
      <p:sp>
        <p:nvSpPr>
          <p:cNvPr id="117" name="Google Shape;117;p52"/>
          <p:cNvSpPr>
            <a:spLocks noGrp="1"/>
          </p:cNvSpPr>
          <p:nvPr>
            <p:ph type="pic" idx="6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3"/>
          <p:cNvSpPr txBox="1">
            <a:spLocks noGrp="1"/>
          </p:cNvSpPr>
          <p:nvPr>
            <p:ph type="body" idx="1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53"/>
          <p:cNvSpPr txBox="1">
            <a:spLocks noGrp="1"/>
          </p:cNvSpPr>
          <p:nvPr>
            <p:ph type="body" idx="2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53"/>
          <p:cNvSpPr txBox="1">
            <a:spLocks noGrp="1"/>
          </p:cNvSpPr>
          <p:nvPr>
            <p:ph type="body" idx="3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53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3"/>
          <p:cNvSpPr>
            <a:spLocks noGrp="1"/>
          </p:cNvSpPr>
          <p:nvPr>
            <p:ph type="pic" idx="4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  <a:noFill/>
          <a:ln>
            <a:noFill/>
          </a:ln>
        </p:spPr>
      </p:sp>
      <p:sp>
        <p:nvSpPr>
          <p:cNvPr id="124" name="Google Shape;124;p53"/>
          <p:cNvSpPr>
            <a:spLocks noGrp="1"/>
          </p:cNvSpPr>
          <p:nvPr>
            <p:ph type="pic" idx="5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  <a:noFill/>
          <a:ln>
            <a:noFill/>
          </a:ln>
        </p:spPr>
      </p:sp>
      <p:sp>
        <p:nvSpPr>
          <p:cNvPr id="125" name="Google Shape;125;p53"/>
          <p:cNvSpPr>
            <a:spLocks noGrp="1"/>
          </p:cNvSpPr>
          <p:nvPr>
            <p:ph type="pic" idx="6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  <a:noFill/>
          <a:ln>
            <a:noFill/>
          </a:ln>
        </p:spPr>
      </p:sp>
      <p:sp>
        <p:nvSpPr>
          <p:cNvPr id="126" name="Google Shape;126;p53"/>
          <p:cNvSpPr txBox="1">
            <a:spLocks noGrp="1"/>
          </p:cNvSpPr>
          <p:nvPr>
            <p:ph type="body" idx="7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53"/>
          <p:cNvSpPr txBox="1">
            <a:spLocks noGrp="1"/>
          </p:cNvSpPr>
          <p:nvPr>
            <p:ph type="body" idx="8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53"/>
          <p:cNvSpPr txBox="1">
            <a:spLocks noGrp="1"/>
          </p:cNvSpPr>
          <p:nvPr>
            <p:ph type="body" idx="9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53"/>
          <p:cNvSpPr>
            <a:spLocks noGrp="1"/>
          </p:cNvSpPr>
          <p:nvPr>
            <p:ph type="pic" idx="13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  <a:noFill/>
          <a:ln>
            <a:noFill/>
          </a:ln>
        </p:spPr>
      </p:sp>
      <p:sp>
        <p:nvSpPr>
          <p:cNvPr id="130" name="Google Shape;130;p53"/>
          <p:cNvSpPr>
            <a:spLocks noGrp="1"/>
          </p:cNvSpPr>
          <p:nvPr>
            <p:ph type="pic" idx="14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  <a:noFill/>
          <a:ln>
            <a:noFill/>
          </a:ln>
        </p:spPr>
      </p:sp>
      <p:sp>
        <p:nvSpPr>
          <p:cNvPr id="131" name="Google Shape;131;p53"/>
          <p:cNvSpPr>
            <a:spLocks noGrp="1"/>
          </p:cNvSpPr>
          <p:nvPr>
            <p:ph type="pic" idx="15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1"/>
          <p:cNvSpPr txBox="1"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1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1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>
            <a:spLocks noGrp="1"/>
          </p:cNvSpPr>
          <p:nvPr>
            <p:ph type="title"/>
          </p:nvPr>
        </p:nvSpPr>
        <p:spPr>
          <a:xfrm>
            <a:off x="1132884" y="2090100"/>
            <a:ext cx="7052209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ru-RU" sz="2800" b="0" u="sng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Команда</a:t>
            </a:r>
            <a:r>
              <a:rPr lang="ru-RU" sz="2800" b="0" i="0" u="sng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«</a:t>
            </a:r>
            <a:r>
              <a:rPr lang="ru-RU" sz="2800" b="0" i="0" u="sng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RichBros</a:t>
            </a:r>
            <a:r>
              <a:rPr lang="ru-RU" sz="2800" b="0" i="0" u="sng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» </a:t>
            </a:r>
            <a:br>
              <a:rPr lang="ru-RU" sz="2800" b="0" i="0" u="sng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-RU" sz="2800" b="0" i="0" u="none" strike="noStrik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Функциональная модель АИС бюро проката яхт Сан-Хуана</a:t>
            </a:r>
            <a:endParaRPr sz="2800" dirty="0">
              <a:solidFill>
                <a:schemeClr val="lt1"/>
              </a:solidFill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3236814" y="3389214"/>
            <a:ext cx="581610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Дисциплина: Проектирование и реализация баз данных</a:t>
            </a:r>
            <a:endParaRPr sz="1800"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Выполнили: </a:t>
            </a:r>
            <a:r>
              <a:rPr lang="ru-RU" sz="1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Пясковский Александр Михайлович</a:t>
            </a:r>
            <a:r>
              <a:rPr lang="ru-RU" sz="1800" b="0" i="0" u="none" strike="noStrik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ru-RU" sz="1800" b="0" i="0" u="none" strike="noStrik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Марьёв</a:t>
            </a:r>
            <a:r>
              <a:rPr lang="ru-RU" sz="1800" b="0" i="0" u="none" strike="noStrik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Егор Алексеевич, группа </a:t>
            </a:r>
            <a:r>
              <a:rPr lang="ru-RU" sz="1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К3240, поток 1.1</a:t>
            </a:r>
            <a:endParaRPr sz="1800" b="0" i="0" u="none" strike="noStrik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Преподаватель: Говорова Марина Михайловна</a:t>
            </a:r>
            <a:endParaRPr sz="1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Факультет прикладной информатики ИТМО</a:t>
            </a:r>
            <a:endParaRPr sz="1800"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2026-2027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Предметная область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Aft>
                <a:spcPts val="600"/>
              </a:spcAft>
              <a:buClr>
                <a:srgbClr val="FF3E35"/>
              </a:buClr>
              <a:buFont typeface="Arial"/>
              <a:buChar char="•"/>
            </a:pPr>
            <a:r>
              <a:rPr sz="1100" b="1">
                <a:solidFill>
                  <a:srgbClr val="1A1A2E"/>
                </a:solidFill>
                <a:latin typeface="Arial"/>
              </a:rPr>
              <a:t>Бюро Сан-Хуана</a:t>
            </a:r>
            <a:r>
              <a:rPr sz="1100" b="0">
                <a:solidFill>
                  <a:srgbClr val="1A1A2E"/>
                </a:solidFill>
                <a:latin typeface="Arial"/>
              </a:rPr>
              <a:t> — посредник: сдаёт в прокат яхты владельцев от их имени.</a:t>
            </a:r>
          </a:p>
          <a:p>
            <a:pPr marL="228600" indent="-228600">
              <a:spcAft>
                <a:spcPts val="600"/>
              </a:spcAft>
              <a:buClr>
                <a:srgbClr val="FF3E35"/>
              </a:buClr>
              <a:buFont typeface="Arial"/>
              <a:buChar char="•"/>
            </a:pPr>
            <a:r>
              <a:rPr sz="1100" b="0">
                <a:solidFill>
                  <a:srgbClr val="1A1A2E"/>
                </a:solidFill>
                <a:latin typeface="Arial"/>
              </a:rPr>
              <a:t>Клиент может заказать экипаж и выбрать готовый маршрут или предложить свой.</a:t>
            </a:r>
          </a:p>
          <a:p>
            <a:pPr marL="228600" indent="-228600">
              <a:spcAft>
                <a:spcPts val="600"/>
              </a:spcAft>
              <a:buClr>
                <a:srgbClr val="FF3E35"/>
              </a:buClr>
              <a:buFont typeface="Arial"/>
              <a:buChar char="•"/>
            </a:pPr>
            <a:r>
              <a:rPr sz="1100" b="0">
                <a:solidFill>
                  <a:srgbClr val="1A1A2E"/>
                </a:solidFill>
                <a:latin typeface="Arial"/>
              </a:rPr>
              <a:t>При поломке в рейсе клиент связывается с диспетчером, тот направляет ремонтную команду.</a:t>
            </a:r>
          </a:p>
          <a:p>
            <a:pPr marL="228600" indent="-228600">
              <a:spcAft>
                <a:spcPts val="600"/>
              </a:spcAft>
              <a:buClr>
                <a:srgbClr val="FF3E35"/>
              </a:buClr>
              <a:buFont typeface="Arial"/>
              <a:buChar char="•"/>
            </a:pPr>
            <a:r>
              <a:rPr sz="1100" b="0">
                <a:solidFill>
                  <a:srgbClr val="1A1A2E"/>
                </a:solidFill>
                <a:latin typeface="Arial"/>
              </a:rPr>
              <a:t>Бюро учитывает расходы и отчитывается перед владельцами о доходе.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2331720"/>
            <a:ext cx="1463040" cy="7315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3E35"/>
                </a:solidFill>
                <a:latin typeface="Arial"/>
              </a:rPr>
              <a:t>Бюро</a:t>
            </a:r>
          </a:p>
          <a:p>
            <a:pPr algn="ctr"/>
            <a:r>
              <a:rPr sz="1300" b="1">
                <a:solidFill>
                  <a:srgbClr val="FF3E35"/>
                </a:solidFill>
                <a:latin typeface="Arial"/>
              </a:rPr>
              <a:t>Сан-Хуана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32588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1A1A2E"/>
                </a:solidFill>
                <a:latin typeface="Arial"/>
              </a:rPr>
              <a:t>Владелец</a:t>
            </a:r>
          </a:p>
          <a:p>
            <a:pPr algn="ctr"/>
            <a:r>
              <a:rPr sz="1050" b="1">
                <a:solidFill>
                  <a:srgbClr val="1A1A2E"/>
                </a:solidFill>
                <a:latin typeface="Arial"/>
              </a:rPr>
              <a:t>яхты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234440"/>
            <a:ext cx="132588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1A1A2E"/>
                </a:solidFill>
                <a:latin typeface="Arial"/>
              </a:rPr>
              <a:t>Клиент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132588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1A1A2E"/>
                </a:solidFill>
                <a:latin typeface="Arial"/>
              </a:rPr>
              <a:t>Наёмный</a:t>
            </a:r>
          </a:p>
          <a:p>
            <a:pPr algn="ctr"/>
            <a:r>
              <a:rPr sz="1050" b="1">
                <a:solidFill>
                  <a:srgbClr val="1A1A2E"/>
                </a:solidFill>
                <a:latin typeface="Arial"/>
              </a:rPr>
              <a:t>экипаж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3840480"/>
            <a:ext cx="132588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1A1A2E"/>
                </a:solidFill>
                <a:latin typeface="Arial"/>
              </a:rPr>
              <a:t>Ремонтная</a:t>
            </a:r>
          </a:p>
          <a:p>
            <a:pPr algn="ctr"/>
            <a:r>
              <a:rPr sz="1050" b="1">
                <a:solidFill>
                  <a:srgbClr val="1A1A2E"/>
                </a:solidFill>
                <a:latin typeface="Arial"/>
              </a:rPr>
              <a:t>команда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83080" y="1645920"/>
            <a:ext cx="365760" cy="68580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429000" y="1645920"/>
            <a:ext cx="365760" cy="68580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783080" y="3063240"/>
            <a:ext cx="365760" cy="77724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29000" y="3063240"/>
            <a:ext cx="365760" cy="77724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19202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rial"/>
              </a:rPr>
              <a:t>яхта в управление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9202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rial"/>
              </a:rPr>
              <a:t>прокат яхты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461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rial"/>
              </a:rPr>
              <a:t>наём по заказу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461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rial"/>
              </a:rPr>
              <a:t>ремонт в рейсе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sz="1050" b="0">
                <a:solidFill>
                  <a:srgbClr val="1A1A2E"/>
                </a:solidFill>
                <a:latin typeface="Arial"/>
              </a:rPr>
              <a:t>Автоматизация деятельности бюро проката яхт Сан-Хуана: учёт яхт и инвентаря, оформление и ведение проката, организация ремонта в аварийных ситуациях, учёт расходов и отчётность перед владельцами.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sz="1300" b="1">
                <a:solidFill>
                  <a:srgbClr val="1A1A2E"/>
                </a:solidFill>
                <a:latin typeface="Arial"/>
              </a:rPr>
              <a:t>Назначение ИС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Этап 1. Назначение ИС и задачи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spcAft>
                <a:spcPts val="100"/>
              </a:spcAft>
              <a:buNone/>
            </a:pPr>
            <a:r>
              <a:rPr sz="900" b="1">
                <a:solidFill>
                  <a:srgbClr val="1A1A2E"/>
                </a:solidFill>
                <a:latin typeface="Arial"/>
              </a:rPr>
              <a:t>Цель: </a:t>
            </a:r>
            <a:r>
              <a:rPr sz="900" b="0">
                <a:solidFill>
                  <a:srgbClr val="1A1A2E"/>
                </a:solidFill>
                <a:latin typeface="Arial"/>
              </a:rPr>
              <a:t>спроектировать функциональную модель АИС бюро проката (DFD).</a:t>
            </a:r>
          </a:p>
          <a:p>
            <a:pPr marL="228600" indent="-228600">
              <a:spcAft>
                <a:spcPts val="100"/>
              </a:spcAft>
              <a:buClr>
                <a:srgbClr val="00A6CC"/>
              </a:buClr>
              <a:buFont typeface="Arial"/>
              <a:buChar char="•"/>
            </a:pPr>
            <a:r>
              <a:rPr sz="900" b="0">
                <a:solidFill>
                  <a:srgbClr val="1A1A2E"/>
                </a:solidFill>
                <a:latin typeface="Arial"/>
              </a:rPr>
              <a:t>Определить назначение ИС</a:t>
            </a:r>
          </a:p>
          <a:p>
            <a:pPr marL="228600" indent="-228600">
              <a:spcAft>
                <a:spcPts val="100"/>
              </a:spcAft>
              <a:buClr>
                <a:srgbClr val="00A6CC"/>
              </a:buClr>
              <a:buFont typeface="Arial"/>
              <a:buChar char="•"/>
            </a:pPr>
            <a:r>
              <a:rPr sz="900" b="0">
                <a:solidFill>
                  <a:srgbClr val="1A1A2E"/>
                </a:solidFill>
                <a:latin typeface="Arial"/>
              </a:rPr>
              <a:t>Выделить основной процесс и внешние сущности</a:t>
            </a:r>
          </a:p>
          <a:p>
            <a:pPr marL="228600" indent="-228600">
              <a:spcAft>
                <a:spcPts val="100"/>
              </a:spcAft>
              <a:buClr>
                <a:srgbClr val="00A6CC"/>
              </a:buClr>
              <a:buFont typeface="Arial"/>
              <a:buChar char="•"/>
            </a:pPr>
            <a:r>
              <a:rPr sz="900" b="0">
                <a:solidFill>
                  <a:srgbClr val="1A1A2E"/>
                </a:solidFill>
                <a:latin typeface="Arial"/>
              </a:rPr>
              <a:t>Выделить потоки данных</a:t>
            </a:r>
          </a:p>
          <a:p>
            <a:pPr marL="228600" indent="-228600">
              <a:spcAft>
                <a:spcPts val="100"/>
              </a:spcAft>
              <a:buClr>
                <a:srgbClr val="00A6CC"/>
              </a:buClr>
              <a:buFont typeface="Arial"/>
              <a:buChar char="•"/>
            </a:pPr>
            <a:r>
              <a:rPr sz="900" b="0">
                <a:solidFill>
                  <a:srgbClr val="1A1A2E"/>
                </a:solidFill>
                <a:latin typeface="Arial"/>
              </a:rPr>
              <a:t>Построить контекстную диаграмму A-0</a:t>
            </a:r>
          </a:p>
          <a:p>
            <a:pPr marL="228600" indent="-228600">
              <a:spcAft>
                <a:spcPts val="100"/>
              </a:spcAft>
              <a:buClr>
                <a:srgbClr val="00A6CC"/>
              </a:buClr>
              <a:buFont typeface="Arial"/>
              <a:buChar char="•"/>
            </a:pPr>
            <a:r>
              <a:rPr sz="900" b="0">
                <a:solidFill>
                  <a:srgbClr val="1A1A2E"/>
                </a:solidFill>
                <a:latin typeface="Arial"/>
              </a:rPr>
              <a:t>Составить матрицу списка событий</a:t>
            </a:r>
          </a:p>
          <a:p>
            <a:pPr marL="228600" indent="-228600">
              <a:spcAft>
                <a:spcPts val="100"/>
              </a:spcAft>
              <a:buClr>
                <a:srgbClr val="00A6CC"/>
              </a:buClr>
              <a:buFont typeface="Arial"/>
              <a:buChar char="•"/>
            </a:pPr>
            <a:r>
              <a:rPr sz="900" b="0">
                <a:solidFill>
                  <a:srgbClr val="1A1A2E"/>
                </a:solidFill>
                <a:latin typeface="Arial"/>
              </a:rPr>
              <a:t>Построить диаграмму A0 и детализацию A2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sz="1300" b="1">
                <a:solidFill>
                  <a:srgbClr val="1A1A2E"/>
                </a:solidFill>
                <a:latin typeface="Arial"/>
              </a:rPr>
              <a:t>Цель и задачи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21792" y="1325880"/>
            <a:ext cx="3931920" cy="329184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Clr>
                <a:srgbClr val="9307FE"/>
              </a:buClr>
              <a:buFont typeface="Arial"/>
              <a:buChar char="•"/>
            </a:pPr>
            <a:r>
              <a:rPr sz="1200" b="1" dirty="0" err="1">
                <a:solidFill>
                  <a:srgbClr val="1A1A2E"/>
                </a:solidFill>
                <a:latin typeface="Arial"/>
              </a:rPr>
              <a:t>Методология</a:t>
            </a:r>
            <a:r>
              <a:rPr sz="1200" b="1" dirty="0">
                <a:solidFill>
                  <a:srgbClr val="1A1A2E"/>
                </a:solidFill>
                <a:latin typeface="Arial"/>
              </a:rPr>
              <a:t>: </a:t>
            </a:r>
            <a:r>
              <a:rPr sz="1200" b="0" dirty="0" err="1">
                <a:solidFill>
                  <a:srgbClr val="1A1A2E"/>
                </a:solidFill>
                <a:latin typeface="Arial"/>
              </a:rPr>
              <a:t>структурный</a:t>
            </a:r>
            <a:r>
              <a:rPr sz="12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Arial"/>
              </a:rPr>
              <a:t>анализ</a:t>
            </a:r>
            <a:r>
              <a:rPr sz="1200" b="0" dirty="0">
                <a:solidFill>
                  <a:srgbClr val="1A1A2E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1A1A2E"/>
                </a:solidFill>
                <a:latin typeface="Arial"/>
              </a:rPr>
              <a:t>диаграммы</a:t>
            </a:r>
            <a:r>
              <a:rPr sz="12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Arial"/>
              </a:rPr>
              <a:t>потоков</a:t>
            </a:r>
            <a:r>
              <a:rPr sz="12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Arial"/>
              </a:rPr>
              <a:t>данных</a:t>
            </a:r>
            <a:r>
              <a:rPr sz="1200" b="0" dirty="0">
                <a:solidFill>
                  <a:srgbClr val="1A1A2E"/>
                </a:solidFill>
                <a:latin typeface="Arial"/>
              </a:rPr>
              <a:t> (DFD)</a:t>
            </a:r>
          </a:p>
          <a:p>
            <a:pPr marL="228600" indent="-228600">
              <a:spcAft>
                <a:spcPts val="800"/>
              </a:spcAft>
              <a:buClr>
                <a:srgbClr val="9307FE"/>
              </a:buClr>
              <a:buFont typeface="Arial"/>
              <a:buChar char="•"/>
            </a:pPr>
            <a:r>
              <a:rPr sz="1200" b="1" dirty="0">
                <a:solidFill>
                  <a:srgbClr val="1A1A2E"/>
                </a:solidFill>
                <a:latin typeface="Arial"/>
              </a:rPr>
              <a:t>CASE-</a:t>
            </a:r>
            <a:r>
              <a:rPr sz="1200" b="1" dirty="0" err="1">
                <a:solidFill>
                  <a:srgbClr val="1A1A2E"/>
                </a:solidFill>
                <a:latin typeface="Arial"/>
              </a:rPr>
              <a:t>средство</a:t>
            </a:r>
            <a:r>
              <a:rPr sz="1200" b="1" dirty="0">
                <a:solidFill>
                  <a:srgbClr val="1A1A2E"/>
                </a:solidFill>
                <a:latin typeface="Arial"/>
              </a:rPr>
              <a:t>: </a:t>
            </a:r>
            <a:r>
              <a:rPr sz="1200" b="0" dirty="0">
                <a:solidFill>
                  <a:srgbClr val="1A1A2E"/>
                </a:solidFill>
                <a:latin typeface="Arial"/>
              </a:rPr>
              <a:t>draw.io </a:t>
            </a:r>
          </a:p>
          <a:p>
            <a:pPr marL="228600" indent="-228600">
              <a:spcAft>
                <a:spcPts val="800"/>
              </a:spcAft>
              <a:buClr>
                <a:srgbClr val="9307FE"/>
              </a:buClr>
              <a:buFont typeface="Arial"/>
              <a:buChar char="•"/>
            </a:pPr>
            <a:r>
              <a:rPr sz="1200" b="1" dirty="0" err="1">
                <a:solidFill>
                  <a:srgbClr val="1A1A2E"/>
                </a:solidFill>
                <a:latin typeface="Arial"/>
              </a:rPr>
              <a:t>Правила</a:t>
            </a:r>
            <a:r>
              <a:rPr sz="1200" b="1" dirty="0">
                <a:solidFill>
                  <a:srgbClr val="1A1A2E"/>
                </a:solidFill>
                <a:latin typeface="Arial"/>
              </a:rPr>
              <a:t>: </a:t>
            </a:r>
            <a:r>
              <a:rPr sz="1200" b="0" dirty="0" err="1">
                <a:solidFill>
                  <a:srgbClr val="1A1A2E"/>
                </a:solidFill>
                <a:latin typeface="Arial"/>
              </a:rPr>
              <a:t>процессы</a:t>
            </a:r>
            <a:r>
              <a:rPr sz="12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Arial"/>
              </a:rPr>
              <a:t>названы</a:t>
            </a:r>
            <a:r>
              <a:rPr sz="12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Arial"/>
              </a:rPr>
              <a:t>глаголами</a:t>
            </a:r>
            <a:r>
              <a:rPr sz="1200" b="0" dirty="0">
                <a:solidFill>
                  <a:srgbClr val="1A1A2E"/>
                </a:solidFill>
                <a:latin typeface="Arial"/>
              </a:rPr>
              <a:t>; у </a:t>
            </a:r>
            <a:r>
              <a:rPr sz="1200" b="0" dirty="0" err="1">
                <a:solidFill>
                  <a:srgbClr val="1A1A2E"/>
                </a:solidFill>
                <a:latin typeface="Arial"/>
              </a:rPr>
              <a:t>каждого</a:t>
            </a:r>
            <a:r>
              <a:rPr sz="12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Arial"/>
              </a:rPr>
              <a:t>накопителя</a:t>
            </a:r>
            <a:r>
              <a:rPr sz="12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Arial"/>
              </a:rPr>
              <a:t>есть</a:t>
            </a:r>
            <a:r>
              <a:rPr sz="12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Arial"/>
              </a:rPr>
              <a:t>вход</a:t>
            </a:r>
            <a:r>
              <a:rPr sz="1200" b="0" dirty="0">
                <a:solidFill>
                  <a:srgbClr val="1A1A2E"/>
                </a:solidFill>
                <a:latin typeface="Arial"/>
              </a:rPr>
              <a:t> и </a:t>
            </a:r>
            <a:r>
              <a:rPr sz="1200" b="0" dirty="0" err="1">
                <a:solidFill>
                  <a:srgbClr val="1A1A2E"/>
                </a:solidFill>
                <a:latin typeface="Arial"/>
              </a:rPr>
              <a:t>выход</a:t>
            </a:r>
            <a:r>
              <a:rPr sz="1200" b="0" dirty="0">
                <a:solidFill>
                  <a:srgbClr val="1A1A2E"/>
                </a:solidFill>
                <a:latin typeface="Arial"/>
              </a:rPr>
              <a:t>; </a:t>
            </a:r>
            <a:r>
              <a:rPr sz="1200" b="0" dirty="0" err="1">
                <a:solidFill>
                  <a:srgbClr val="1A1A2E"/>
                </a:solidFill>
                <a:latin typeface="Arial"/>
              </a:rPr>
              <a:t>потоки</a:t>
            </a:r>
            <a:r>
              <a:rPr sz="12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Arial"/>
              </a:rPr>
              <a:t>сбалансированы</a:t>
            </a:r>
            <a:r>
              <a:rPr sz="12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Arial"/>
              </a:rPr>
              <a:t>между</a:t>
            </a:r>
            <a:r>
              <a:rPr sz="12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Arial"/>
              </a:rPr>
              <a:t>уровнями</a:t>
            </a:r>
            <a:endParaRPr sz="1200" b="0" dirty="0">
              <a:solidFill>
                <a:srgbClr val="1A1A2E"/>
              </a:solidFill>
              <a:latin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Методы и средства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2040" y="13716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1200" b="1">
                <a:solidFill>
                  <a:srgbClr val="9307FE"/>
                </a:solidFill>
                <a:latin typeface="Arial"/>
              </a:rPr>
              <a:t>Элементы нотации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783080"/>
            <a:ext cx="1371600" cy="475488"/>
          </a:xfrm>
          <a:prstGeom prst="roundRect">
            <a:avLst>
              <a:gd name="adj" fmla="val 18000"/>
            </a:avLst>
          </a:prstGeom>
          <a:solidFill>
            <a:srgbClr val="1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Процесс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950" b="0">
                <a:solidFill>
                  <a:srgbClr val="555566"/>
                </a:solidFill>
                <a:latin typeface="Arial"/>
              </a:rPr>
              <a:t>преобразует входные
потоки в выходные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2423160"/>
            <a:ext cx="1371600" cy="475488"/>
          </a:xfrm>
          <a:prstGeom prst="rect">
            <a:avLst/>
          </a:prstGeom>
          <a:solidFill>
            <a:srgbClr val="B3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1A1A2E"/>
                </a:solidFill>
                <a:latin typeface="Arial"/>
              </a:rPr>
              <a:t>Внешняя</a:t>
            </a:r>
          </a:p>
          <a:p>
            <a:pPr algn="ctr"/>
            <a:r>
              <a:rPr sz="1000" b="1">
                <a:solidFill>
                  <a:srgbClr val="1A1A2E"/>
                </a:solidFill>
                <a:latin typeface="Arial"/>
              </a:rPr>
              <a:t>сущность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23160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950" b="0">
                <a:solidFill>
                  <a:srgbClr val="555566"/>
                </a:solidFill>
                <a:latin typeface="Arial"/>
              </a:rPr>
              <a:t>источник или приёмник
данных вне системы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3063240"/>
            <a:ext cx="137160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1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92040" y="3063240"/>
            <a:ext cx="201168" cy="475488"/>
          </a:xfrm>
          <a:prstGeom prst="rect">
            <a:avLst/>
          </a:prstGeom>
          <a:solidFill>
            <a:srgbClr val="1D9DE0"/>
          </a:solidFill>
          <a:ln w="15875">
            <a:solidFill>
              <a:srgbClr val="1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59" y="3063240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1000" b="0">
                <a:solidFill>
                  <a:srgbClr val="1A1A2E"/>
                </a:solidFill>
                <a:latin typeface="Arial"/>
              </a:rPr>
              <a:t>Накопитель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063240"/>
            <a:ext cx="20116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Arial"/>
              </a:rPr>
              <a:t>D1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63240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950" b="0">
                <a:solidFill>
                  <a:srgbClr val="555566"/>
                </a:solidFill>
                <a:latin typeface="Arial"/>
              </a:rPr>
              <a:t>хранит данные
между процессами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2040" y="3931920"/>
            <a:ext cx="1371600" cy="0"/>
          </a:xfrm>
          <a:prstGeom prst="line">
            <a:avLst/>
          </a:prstGeom>
          <a:ln w="22225">
            <a:solidFill>
              <a:srgbClr val="1A1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92040" y="370332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900" b="0">
                <a:solidFill>
                  <a:srgbClr val="1A1A2E"/>
                </a:solidFill>
                <a:latin typeface="Arial"/>
              </a:rPr>
              <a:t>поток данных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950" b="0">
                <a:solidFill>
                  <a:srgbClr val="555566"/>
                </a:solidFill>
                <a:latin typeface="Arial"/>
              </a:rPr>
              <a:t>передаёт данные
от источника к приёмнику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Этапы 2–3. Сущности и потоки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1150" b="1">
                <a:solidFill>
                  <a:srgbClr val="1A1A2E"/>
                </a:solidFill>
                <a:latin typeface="Arial"/>
              </a:rPr>
              <a:t>Основной процесс: </a:t>
            </a:r>
            <a:r>
              <a:rPr sz="1150" b="0">
                <a:solidFill>
                  <a:srgbClr val="1A1A2E"/>
                </a:solidFill>
                <a:latin typeface="Arial"/>
              </a:rPr>
              <a:t>«Управлять прокатом яхт»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804672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Внешняя сущность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00A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Передаёт в систему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00A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Получает из системы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00A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2E"/>
                          </a:solidFill>
                          <a:latin typeface="Arial"/>
                        </a:rPr>
                        <a:t>Владелец яхты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Arial"/>
                        </a:rPr>
                        <a:t>яхта, инвентарь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Arial"/>
                        </a:rPr>
                        <a:t>договор о посредничестве, отчёт о доходе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2E"/>
                          </a:solidFill>
                          <a:latin typeface="Arial"/>
                        </a:rPr>
                        <a:t>Клиент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E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Arial"/>
                        </a:rPr>
                        <a:t>заявка на прокат, запрос экипажа, сообщение о поломке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E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Arial"/>
                        </a:rPr>
                        <a:t>договор проката, акт возврата яхты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EA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2E"/>
                          </a:solidFill>
                          <a:latin typeface="Arial"/>
                        </a:rPr>
                        <a:t>Менеджер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Arial"/>
                        </a:rPr>
                        <a:t>договор проката, акт возврата яхты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 err="1">
                          <a:solidFill>
                            <a:srgbClr val="1A1A2E"/>
                          </a:solidFill>
                          <a:latin typeface="Arial"/>
                        </a:rPr>
                        <a:t>данные</a:t>
                      </a:r>
                      <a:r>
                        <a:rPr sz="1050" b="0" dirty="0">
                          <a:solidFill>
                            <a:srgbClr val="1A1A2E"/>
                          </a:solidFill>
                          <a:latin typeface="Arial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A1A2E"/>
                          </a:solidFill>
                          <a:latin typeface="Arial"/>
                        </a:rPr>
                        <a:t>яхты</a:t>
                      </a:r>
                      <a:r>
                        <a:rPr sz="1050" b="0" dirty="0">
                          <a:solidFill>
                            <a:srgbClr val="1A1A2E"/>
                          </a:solidFill>
                          <a:latin typeface="Arial"/>
                        </a:rPr>
                        <a:t>, </a:t>
                      </a:r>
                      <a:r>
                        <a:rPr sz="1050" b="0" dirty="0" err="1">
                          <a:solidFill>
                            <a:srgbClr val="1A1A2E"/>
                          </a:solidFill>
                          <a:latin typeface="Arial"/>
                        </a:rPr>
                        <a:t>данные</a:t>
                      </a:r>
                      <a:r>
                        <a:rPr sz="1050" b="0" dirty="0">
                          <a:solidFill>
                            <a:srgbClr val="1A1A2E"/>
                          </a:solidFill>
                          <a:latin typeface="Arial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A1A2E"/>
                          </a:solidFill>
                          <a:latin typeface="Arial"/>
                        </a:rPr>
                        <a:t>об</a:t>
                      </a:r>
                      <a:r>
                        <a:rPr sz="1050" b="0" dirty="0">
                          <a:solidFill>
                            <a:srgbClr val="1A1A2E"/>
                          </a:solidFill>
                          <a:latin typeface="Arial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A1A2E"/>
                          </a:solidFill>
                          <a:latin typeface="Arial"/>
                        </a:rPr>
                        <a:t>экипаже</a:t>
                      </a:r>
                      <a:endParaRPr sz="1050" b="0" dirty="0">
                        <a:solidFill>
                          <a:srgbClr val="1A1A2E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2E"/>
                          </a:solidFill>
                          <a:latin typeface="Arial"/>
                        </a:rPr>
                        <a:t>Наёмный экипаж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E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Arial"/>
                        </a:rPr>
                        <a:t>экипаж, договор о найме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E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Arial"/>
                        </a:rPr>
                        <a:t>заказ экипажа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EA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2E"/>
                          </a:solidFill>
                          <a:latin typeface="Arial"/>
                        </a:rPr>
                        <a:t>Диспетчер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Arial"/>
                        </a:rPr>
                        <a:t>наряд на ремонт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Arial"/>
                        </a:rPr>
                        <a:t>запрос на ремонт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2E"/>
                          </a:solidFill>
                          <a:latin typeface="Arial"/>
                        </a:rPr>
                        <a:t>Ремонтная команда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E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Arial"/>
                        </a:rPr>
                        <a:t>акт ремонта и стоимость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E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 err="1">
                          <a:solidFill>
                            <a:srgbClr val="1A1A2E"/>
                          </a:solidFill>
                          <a:latin typeface="Arial"/>
                        </a:rPr>
                        <a:t>наряд</a:t>
                      </a:r>
                      <a:r>
                        <a:rPr sz="1050" b="0" dirty="0">
                          <a:solidFill>
                            <a:srgbClr val="1A1A2E"/>
                          </a:solidFill>
                          <a:latin typeface="Arial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A1A2E"/>
                          </a:solidFill>
                          <a:latin typeface="Arial"/>
                        </a:rPr>
                        <a:t>на</a:t>
                      </a:r>
                      <a:r>
                        <a:rPr sz="1050" b="0" dirty="0">
                          <a:solidFill>
                            <a:srgbClr val="1A1A2E"/>
                          </a:solidFill>
                          <a:latin typeface="Arial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A1A2E"/>
                          </a:solidFill>
                          <a:latin typeface="Arial"/>
                        </a:rPr>
                        <a:t>ремонт</a:t>
                      </a:r>
                      <a:endParaRPr sz="1050" b="0" dirty="0">
                        <a:solidFill>
                          <a:srgbClr val="1A1A2E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EA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Этап 4. Контекстная диаграмма A-0</a:t>
            </a:r>
          </a:p>
        </p:txBody>
      </p:sp>
      <p:pic>
        <p:nvPicPr>
          <p:cNvPr id="3" name="Picture 2" descr="a_minus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35" y="1298448"/>
            <a:ext cx="4536631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94960" y="1554480"/>
            <a:ext cx="32004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9307FE"/>
              </a:buClr>
              <a:buFont typeface="Arial"/>
              <a:buChar char="•"/>
            </a:pPr>
            <a:r>
              <a:rPr sz="1150" b="1">
                <a:solidFill>
                  <a:srgbClr val="1A1A2E"/>
                </a:solidFill>
                <a:latin typeface="Arial"/>
              </a:rPr>
              <a:t>Процесс A0</a:t>
            </a:r>
            <a:r>
              <a:rPr sz="1150" b="0">
                <a:solidFill>
                  <a:srgbClr val="1A1A2E"/>
                </a:solidFill>
                <a:latin typeface="Arial"/>
              </a:rPr>
              <a:t> — «Управлять прокатом яхт»: вся система как единое целое</a:t>
            </a:r>
          </a:p>
          <a:p>
            <a:pPr marL="228600" indent="-228600">
              <a:spcAft>
                <a:spcPts val="800"/>
              </a:spcAft>
              <a:buClr>
                <a:srgbClr val="9307FE"/>
              </a:buClr>
              <a:buFont typeface="Arial"/>
              <a:buChar char="•"/>
            </a:pPr>
            <a:r>
              <a:rPr sz="1150" b="1">
                <a:solidFill>
                  <a:srgbClr val="1A1A2E"/>
                </a:solidFill>
                <a:latin typeface="Arial"/>
              </a:rPr>
              <a:t>6 внешних сущностей</a:t>
            </a:r>
            <a:r>
              <a:rPr sz="1150" b="0">
                <a:solidFill>
                  <a:srgbClr val="1A1A2E"/>
                </a:solidFill>
                <a:latin typeface="Arial"/>
              </a:rPr>
              <a:t>: владелец, клиент, менеджер, наёмный экипаж, диспетчер, ремонтная команда</a:t>
            </a:r>
          </a:p>
          <a:p>
            <a:pPr marL="228600" indent="-228600">
              <a:spcAft>
                <a:spcPts val="800"/>
              </a:spcAft>
              <a:buClr>
                <a:srgbClr val="9307FE"/>
              </a:buClr>
              <a:buFont typeface="Arial"/>
              <a:buChar char="•"/>
            </a:pPr>
            <a:r>
              <a:rPr sz="1150" b="0">
                <a:solidFill>
                  <a:srgbClr val="1A1A2E"/>
                </a:solidFill>
                <a:latin typeface="Arial"/>
              </a:rPr>
              <a:t>Показаны только потоки, пересекающие границу системы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Этап 5. Матрица списка событий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08760"/>
          <a:ext cx="8138160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Процесс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Входные потоки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Выходные потоки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2E"/>
                          </a:solidFill>
                          <a:latin typeface="Arial"/>
                        </a:rPr>
                        <a:t>A1 Учитывать яхты и инвентарь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2E"/>
                          </a:solidFill>
                          <a:latin typeface="Arial"/>
                        </a:rPr>
                        <a:t>яхта, инвентарь (владелец)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2E"/>
                          </a:solidFill>
                          <a:latin typeface="Arial"/>
                        </a:rPr>
                        <a:t>договор о посредничестве (владелец); данные о владельце → D3; данные яхты и инвентаря → 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2E"/>
                          </a:solidFill>
                          <a:latin typeface="Arial"/>
                        </a:rPr>
                        <a:t>A2 Вести прокат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2E"/>
                          </a:solidFill>
                          <a:latin typeface="Arial"/>
                        </a:rPr>
                        <a:t>заявка на прокат, запрос экипажа (клиент); экипаж, договор о найме; договор проката, акт возврата (менеджер); данные клиента ← D2; маршруты ← D5; история клиента ← D4; статус яхты ← 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2E"/>
                          </a:solidFill>
                          <a:latin typeface="Arial"/>
                        </a:rPr>
                        <a:t>договор проката, акт возврата (клиент); заказ экипажа; данные яхты и экипажа (менеджер); данные клиента → D2; новый маршрут → D5; договор, акт → D4; запрос статуса → 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2E"/>
                          </a:solidFill>
                          <a:latin typeface="Arial"/>
                        </a:rPr>
                        <a:t>A3 Обслуживать и ремонтировать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2E"/>
                          </a:solidFill>
                          <a:latin typeface="Arial"/>
                        </a:rPr>
                        <a:t>сообщение о поломке (клиент); наряд на ремонт (диспетчер); акт ремонта и стоимость; данные о доках ← D7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2E"/>
                          </a:solidFill>
                          <a:latin typeface="Arial"/>
                        </a:rPr>
                        <a:t>запрос на ремонт (диспетчер); наряд на ремонт (ремонтная команда); данные ремонта → D6; качество и стоимость → D7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2E"/>
                          </a:solidFill>
                          <a:latin typeface="Arial"/>
                        </a:rPr>
                        <a:t>A4 Учитывать расходы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2E"/>
                          </a:solidFill>
                          <a:latin typeface="Arial"/>
                        </a:rPr>
                        <a:t>комплектация яхты ← D1; условия договора ← D3; данные об аренде ← D4; расходы на ремонт ← D6; расходы за период ← D8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2E"/>
                          </a:solidFill>
                          <a:latin typeface="Arial"/>
                        </a:rPr>
                        <a:t>данные расходов → D8; отчёт о доходе (владелец)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9C9D6"/>
                      </a:solidFill>
                    </a:lnL>
                    <a:lnR w="6350">
                      <a:solidFill>
                        <a:srgbClr val="C9C9D6"/>
                      </a:solidFill>
                    </a:lnR>
                    <a:lnT w="6350">
                      <a:solidFill>
                        <a:srgbClr val="C9C9D6"/>
                      </a:solidFill>
                    </a:lnT>
                    <a:lnB w="6350">
                      <a:solidFill>
                        <a:srgbClr val="C9C9D6"/>
                      </a:solidFill>
                    </a:lnB>
                    <a:solidFill>
                      <a:srgbClr val="FF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Этап 6. Диаграмма A0</a:t>
            </a:r>
          </a:p>
        </p:txBody>
      </p:sp>
      <p:pic>
        <p:nvPicPr>
          <p:cNvPr id="3" name="Picture 2" descr="a0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012" y="1280160"/>
            <a:ext cx="6517975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A0: прокат, учёт яхт и расходов</a:t>
            </a:r>
          </a:p>
        </p:txBody>
      </p:sp>
      <p:pic>
        <p:nvPicPr>
          <p:cNvPr id="3" name="Picture 2" descr="a0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98448"/>
            <a:ext cx="4782021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32120" y="1463040"/>
            <a:ext cx="31089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9307FE"/>
              </a:buClr>
              <a:buFont typeface="Arial"/>
              <a:buChar char="•"/>
            </a:pPr>
            <a:r>
              <a:rPr sz="1050" b="1">
                <a:solidFill>
                  <a:srgbClr val="1A1A2E"/>
                </a:solidFill>
                <a:latin typeface="Arial"/>
              </a:rPr>
              <a:t>A1</a:t>
            </a:r>
            <a:r>
              <a:rPr sz="1050" b="0">
                <a:solidFill>
                  <a:srgbClr val="1A1A2E"/>
                </a:solidFill>
                <a:latin typeface="Arial"/>
              </a:rPr>
              <a:t> — приём яхты и инвентаря, договор о посредничестве</a:t>
            </a:r>
          </a:p>
          <a:p>
            <a:pPr marL="228600" indent="-228600">
              <a:spcAft>
                <a:spcPts val="600"/>
              </a:spcAft>
              <a:buClr>
                <a:srgbClr val="9307FE"/>
              </a:buClr>
              <a:buFont typeface="Arial"/>
              <a:buChar char="•"/>
            </a:pPr>
            <a:r>
              <a:rPr sz="1050" b="1">
                <a:solidFill>
                  <a:srgbClr val="1A1A2E"/>
                </a:solidFill>
                <a:latin typeface="Arial"/>
              </a:rPr>
              <a:t>A2</a:t>
            </a:r>
            <a:r>
              <a:rPr sz="1050" b="0">
                <a:solidFill>
                  <a:srgbClr val="1A1A2E"/>
                </a:solidFill>
                <a:latin typeface="Arial"/>
              </a:rPr>
              <a:t> — ведение проката: клиенты, маршруты, экипаж, договоры и акты</a:t>
            </a:r>
          </a:p>
          <a:p>
            <a:pPr marL="228600" indent="-228600">
              <a:spcAft>
                <a:spcPts val="600"/>
              </a:spcAft>
              <a:buClr>
                <a:srgbClr val="9307FE"/>
              </a:buClr>
              <a:buFont typeface="Arial"/>
              <a:buChar char="•"/>
            </a:pPr>
            <a:r>
              <a:rPr sz="1050" b="1">
                <a:solidFill>
                  <a:srgbClr val="1A1A2E"/>
                </a:solidFill>
                <a:latin typeface="Arial"/>
              </a:rPr>
              <a:t>A4</a:t>
            </a:r>
            <a:r>
              <a:rPr sz="1050" b="0">
                <a:solidFill>
                  <a:srgbClr val="1A1A2E"/>
                </a:solidFill>
                <a:latin typeface="Arial"/>
              </a:rPr>
              <a:t> — расходы и отчёт о доходе владельцу</a:t>
            </a:r>
          </a:p>
          <a:p>
            <a:pPr marL="228600" indent="-228600">
              <a:spcAft>
                <a:spcPts val="600"/>
              </a:spcAft>
              <a:buClr>
                <a:srgbClr val="9307FE"/>
              </a:buClr>
              <a:buFont typeface="Arial"/>
              <a:buChar char="•"/>
            </a:pPr>
            <a:r>
              <a:rPr sz="1050" b="1">
                <a:solidFill>
                  <a:srgbClr val="1A1A2E"/>
                </a:solidFill>
                <a:latin typeface="Arial"/>
              </a:rPr>
              <a:t>Накопители: </a:t>
            </a:r>
            <a:r>
              <a:rPr sz="1050" b="0">
                <a:solidFill>
                  <a:srgbClr val="1A1A2E"/>
                </a:solidFill>
                <a:latin typeface="Arial"/>
              </a:rPr>
              <a:t>D1 Яхты и инвентарь, D2 Клиенты, D3 Владельцы, D4 История проката, D5 Маршруты, D8 Расходы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A0: обслуживание и ремонт</a:t>
            </a:r>
          </a:p>
        </p:txBody>
      </p:sp>
      <p:pic>
        <p:nvPicPr>
          <p:cNvPr id="3" name="Picture 2" descr="a0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98448"/>
            <a:ext cx="2827831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06240" y="1645920"/>
            <a:ext cx="43891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spcAft>
                <a:spcPts val="700"/>
              </a:spcAft>
              <a:buNone/>
            </a:pPr>
            <a:r>
              <a:rPr sz="1150" b="1">
                <a:solidFill>
                  <a:srgbClr val="1A1A2E"/>
                </a:solidFill>
                <a:latin typeface="Arial"/>
              </a:rPr>
              <a:t>A3 «Обслуживать и ремонтировать»</a:t>
            </a:r>
          </a:p>
          <a:p>
            <a:pPr marL="228600" indent="-228600">
              <a:spcAft>
                <a:spcPts val="700"/>
              </a:spcAft>
              <a:buClr>
                <a:srgbClr val="9307FE"/>
              </a:buClr>
              <a:buFont typeface="Arial"/>
              <a:buChar char="•"/>
            </a:pPr>
            <a:r>
              <a:rPr sz="1150" b="0">
                <a:solidFill>
                  <a:srgbClr val="1A1A2E"/>
                </a:solidFill>
                <a:latin typeface="Arial"/>
              </a:rPr>
              <a:t>Клиент сообщает о поломке, диспетчер формирует наряд на ремонт</a:t>
            </a:r>
          </a:p>
          <a:p>
            <a:pPr marL="228600" indent="-228600">
              <a:spcAft>
                <a:spcPts val="700"/>
              </a:spcAft>
              <a:buClr>
                <a:srgbClr val="9307FE"/>
              </a:buClr>
              <a:buFont typeface="Arial"/>
              <a:buChar char="•"/>
            </a:pPr>
            <a:r>
              <a:rPr sz="1150" b="0">
                <a:solidFill>
                  <a:srgbClr val="1A1A2E"/>
                </a:solidFill>
                <a:latin typeface="Arial"/>
              </a:rPr>
              <a:t>Ремонтная команда возвращает акт ремонта и стоимость</a:t>
            </a:r>
          </a:p>
          <a:p>
            <a:pPr marL="228600" indent="-228600">
              <a:spcAft>
                <a:spcPts val="700"/>
              </a:spcAft>
              <a:buClr>
                <a:srgbClr val="9307FE"/>
              </a:buClr>
              <a:buFont typeface="Arial"/>
              <a:buChar char="•"/>
            </a:pPr>
            <a:r>
              <a:rPr sz="1150" b="1">
                <a:solidFill>
                  <a:srgbClr val="1A1A2E"/>
                </a:solidFill>
                <a:latin typeface="Arial"/>
              </a:rPr>
              <a:t>D6 Ремонты</a:t>
            </a:r>
            <a:r>
              <a:rPr sz="1150" b="0">
                <a:solidFill>
                  <a:srgbClr val="1A1A2E"/>
                </a:solidFill>
                <a:latin typeface="Arial"/>
              </a:rPr>
              <a:t> — плановые и внеплановые работы, откуда A4 берёт расходы</a:t>
            </a:r>
          </a:p>
          <a:p>
            <a:pPr marL="228600" indent="-228600">
              <a:spcAft>
                <a:spcPts val="700"/>
              </a:spcAft>
              <a:buClr>
                <a:srgbClr val="9307FE"/>
              </a:buClr>
              <a:buFont typeface="Arial"/>
              <a:buChar char="•"/>
            </a:pPr>
            <a:r>
              <a:rPr sz="1150" b="1">
                <a:solidFill>
                  <a:srgbClr val="1A1A2E"/>
                </a:solidFill>
                <a:latin typeface="Arial"/>
              </a:rPr>
              <a:t>D7 Ремонтные доки</a:t>
            </a:r>
            <a:r>
              <a:rPr sz="1150" b="0">
                <a:solidFill>
                  <a:srgbClr val="1A1A2E"/>
                </a:solidFill>
                <a:latin typeface="Arial"/>
              </a:rPr>
              <a:t> — адреса, качество и стоимость ремонта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Этап 6. Детализация процесса A2</a:t>
            </a:r>
          </a:p>
        </p:txBody>
      </p:sp>
      <p:pic>
        <p:nvPicPr>
          <p:cNvPr id="3" name="Picture 2" descr="a2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48" y="1051775"/>
            <a:ext cx="4694809" cy="37177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1575945"/>
            <a:ext cx="35661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700"/>
              </a:spcAft>
              <a:buClr>
                <a:srgbClr val="9307FE"/>
              </a:buClr>
              <a:buFont typeface="Arial"/>
              <a:buChar char="•"/>
            </a:pPr>
            <a:r>
              <a:rPr sz="1100" b="1" dirty="0">
                <a:solidFill>
                  <a:srgbClr val="1A1A2E"/>
                </a:solidFill>
                <a:latin typeface="Arial"/>
              </a:rPr>
              <a:t>11 </a:t>
            </a:r>
            <a:r>
              <a:rPr sz="1100" b="1" dirty="0" err="1">
                <a:solidFill>
                  <a:srgbClr val="1A1A2E"/>
                </a:solidFill>
                <a:latin typeface="Arial"/>
              </a:rPr>
              <a:t>подпроцессов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в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двух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ветках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: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заключение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договора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и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ведение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аренды</a:t>
            </a:r>
            <a:endParaRPr sz="1100" b="0" dirty="0">
              <a:solidFill>
                <a:srgbClr val="1A1A2E"/>
              </a:solidFill>
              <a:latin typeface="Arial"/>
            </a:endParaRPr>
          </a:p>
          <a:p>
            <a:pPr marL="228600" indent="-228600">
              <a:spcAft>
                <a:spcPts val="700"/>
              </a:spcAft>
              <a:buClr>
                <a:srgbClr val="9307FE"/>
              </a:buClr>
              <a:buFont typeface="Arial"/>
              <a:buChar char="•"/>
            </a:pPr>
            <a:r>
              <a:rPr sz="1100" b="1" dirty="0" err="1">
                <a:solidFill>
                  <a:srgbClr val="1A1A2E"/>
                </a:solidFill>
                <a:latin typeface="Arial"/>
              </a:rPr>
              <a:t>Маршрут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подбирается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по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D5,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клиент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может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добавить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свой</a:t>
            </a:r>
            <a:endParaRPr sz="1100" b="0" dirty="0">
              <a:solidFill>
                <a:srgbClr val="1A1A2E"/>
              </a:solidFill>
              <a:latin typeface="Arial"/>
            </a:endParaRPr>
          </a:p>
          <a:p>
            <a:pPr marL="228600" indent="-228600">
              <a:spcAft>
                <a:spcPts val="700"/>
              </a:spcAft>
              <a:buClr>
                <a:srgbClr val="9307FE"/>
              </a:buClr>
              <a:buFont typeface="Arial"/>
              <a:buChar char="•"/>
            </a:pPr>
            <a:r>
              <a:rPr sz="1100" b="1" dirty="0" err="1">
                <a:solidFill>
                  <a:srgbClr val="1A1A2E"/>
                </a:solidFill>
                <a:latin typeface="Arial"/>
              </a:rPr>
              <a:t>Экипаж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заказывается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только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если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клиент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согласился</a:t>
            </a:r>
            <a:endParaRPr sz="1100" b="0" dirty="0">
              <a:solidFill>
                <a:srgbClr val="1A1A2E"/>
              </a:solidFill>
              <a:latin typeface="Arial"/>
            </a:endParaRPr>
          </a:p>
          <a:p>
            <a:pPr marL="228600" indent="-228600">
              <a:spcAft>
                <a:spcPts val="700"/>
              </a:spcAft>
              <a:buClr>
                <a:srgbClr val="9307FE"/>
              </a:buClr>
              <a:buFont typeface="Arial"/>
              <a:buChar char="•"/>
            </a:pPr>
            <a:r>
              <a:rPr sz="1100" b="1" dirty="0" err="1">
                <a:solidFill>
                  <a:srgbClr val="1A1A2E"/>
                </a:solidFill>
                <a:latin typeface="Arial"/>
              </a:rPr>
              <a:t>Акт</a:t>
            </a:r>
            <a:r>
              <a:rPr sz="1100" b="1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A1A2E"/>
                </a:solidFill>
                <a:latin typeface="Arial"/>
              </a:rPr>
              <a:t>возврата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фиксирует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состояние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яхты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данные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аренды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Arial"/>
              </a:rPr>
              <a:t>уходят</a:t>
            </a:r>
            <a:r>
              <a:rPr sz="1100" b="0" dirty="0">
                <a:solidFill>
                  <a:srgbClr val="1A1A2E"/>
                </a:solidFill>
                <a:latin typeface="Arial"/>
              </a:rPr>
              <a:t> в A4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A2: заключение договора проката</a:t>
            </a:r>
          </a:p>
        </p:txBody>
      </p:sp>
      <p:pic>
        <p:nvPicPr>
          <p:cNvPr id="3" name="Picture 2" descr="a2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85569"/>
            <a:ext cx="3618481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34840" y="1508760"/>
            <a:ext cx="420624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9307FE"/>
              </a:buClr>
              <a:buFont typeface="Arial"/>
              <a:buChar char="•"/>
            </a:pPr>
            <a:r>
              <a:rPr sz="1100" b="1">
                <a:solidFill>
                  <a:srgbClr val="1A1A2E"/>
                </a:solidFill>
                <a:latin typeface="Arial"/>
              </a:rPr>
              <a:t>A2.1–A2.2</a:t>
            </a:r>
            <a:r>
              <a:rPr sz="1100" b="0">
                <a:solidFill>
                  <a:srgbClr val="1A1A2E"/>
                </a:solidFill>
                <a:latin typeface="Arial"/>
              </a:rPr>
              <a:t> проверка и бронирование яхты по D1; при недоступности — отказ (A2.10)</a:t>
            </a:r>
          </a:p>
          <a:p>
            <a:pPr marL="228600" indent="-228600">
              <a:spcAft>
                <a:spcPts val="600"/>
              </a:spcAft>
              <a:buClr>
                <a:srgbClr val="9307FE"/>
              </a:buClr>
              <a:buFont typeface="Arial"/>
              <a:buChar char="•"/>
            </a:pPr>
            <a:r>
              <a:rPr sz="1100" b="1">
                <a:solidFill>
                  <a:srgbClr val="1A1A2E"/>
                </a:solidFill>
                <a:latin typeface="Arial"/>
              </a:rPr>
              <a:t>A2.3</a:t>
            </a:r>
            <a:r>
              <a:rPr sz="1100" b="0">
                <a:solidFill>
                  <a:srgbClr val="1A1A2E"/>
                </a:solidFill>
                <a:latin typeface="Arial"/>
              </a:rPr>
              <a:t> клиент ищется в D2, история — в D4</a:t>
            </a:r>
          </a:p>
          <a:p>
            <a:pPr marL="228600" indent="-228600">
              <a:spcAft>
                <a:spcPts val="600"/>
              </a:spcAft>
              <a:buClr>
                <a:srgbClr val="9307FE"/>
              </a:buClr>
              <a:buFont typeface="Arial"/>
              <a:buChar char="•"/>
            </a:pPr>
            <a:r>
              <a:rPr sz="1100" b="1">
                <a:solidFill>
                  <a:srgbClr val="1A1A2E"/>
                </a:solidFill>
                <a:latin typeface="Arial"/>
              </a:rPr>
              <a:t>A2.4</a:t>
            </a:r>
            <a:r>
              <a:rPr sz="1100" b="0">
                <a:solidFill>
                  <a:srgbClr val="1A1A2E"/>
                </a:solidFill>
                <a:latin typeface="Arial"/>
              </a:rPr>
              <a:t> маршрут из D5 или новый маршрут клиента</a:t>
            </a:r>
          </a:p>
          <a:p>
            <a:pPr marL="228600" indent="-228600">
              <a:spcAft>
                <a:spcPts val="600"/>
              </a:spcAft>
              <a:buClr>
                <a:srgbClr val="9307FE"/>
              </a:buClr>
              <a:buFont typeface="Arial"/>
              <a:buChar char="•"/>
            </a:pPr>
            <a:r>
              <a:rPr sz="1100" b="1">
                <a:solidFill>
                  <a:srgbClr val="1A1A2E"/>
                </a:solidFill>
                <a:latin typeface="Arial"/>
              </a:rPr>
              <a:t>A2.5, A2.5.1</a:t>
            </a:r>
            <a:r>
              <a:rPr sz="1100" b="0">
                <a:solidFill>
                  <a:srgbClr val="1A1A2E"/>
                </a:solidFill>
                <a:latin typeface="Arial"/>
              </a:rPr>
              <a:t> вопрос об экипаже и заказ у наёмного экипажа</a:t>
            </a:r>
          </a:p>
          <a:p>
            <a:pPr marL="228600" indent="-228600">
              <a:spcAft>
                <a:spcPts val="600"/>
              </a:spcAft>
              <a:buClr>
                <a:srgbClr val="9307FE"/>
              </a:buClr>
              <a:buFont typeface="Arial"/>
              <a:buChar char="•"/>
            </a:pPr>
            <a:r>
              <a:rPr sz="1100" b="1">
                <a:solidFill>
                  <a:srgbClr val="1A1A2E"/>
                </a:solidFill>
                <a:latin typeface="Arial"/>
              </a:rPr>
              <a:t>A2.6–A2.7</a:t>
            </a:r>
            <a:r>
              <a:rPr sz="1100" b="0">
                <a:solidFill>
                  <a:srgbClr val="1A1A2E"/>
                </a:solidFill>
                <a:latin typeface="Arial"/>
              </a:rPr>
              <a:t> расчёт стоимости и договор, подписанный менеджером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A2: ведение аренды</a:t>
            </a:r>
          </a:p>
        </p:txBody>
      </p:sp>
      <p:pic>
        <p:nvPicPr>
          <p:cNvPr id="3" name="Picture 2" descr="a2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5677824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600200"/>
            <a:ext cx="224028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9307FE"/>
              </a:buClr>
              <a:buFont typeface="Arial"/>
              <a:buChar char="•"/>
            </a:pPr>
            <a:r>
              <a:rPr sz="1050" b="1">
                <a:solidFill>
                  <a:srgbClr val="1A1A2E"/>
                </a:solidFill>
                <a:latin typeface="Arial"/>
              </a:rPr>
              <a:t>A2.8</a:t>
            </a:r>
            <a:r>
              <a:rPr sz="1050" b="0">
                <a:solidFill>
                  <a:srgbClr val="1A1A2E"/>
                </a:solidFill>
                <a:latin typeface="Arial"/>
              </a:rPr>
              <a:t> выдаёт яхту клиенту, статус «в прокате»</a:t>
            </a:r>
          </a:p>
          <a:p>
            <a:pPr marL="228600" indent="-228600">
              <a:spcAft>
                <a:spcPts val="600"/>
              </a:spcAft>
              <a:buClr>
                <a:srgbClr val="9307FE"/>
              </a:buClr>
              <a:buFont typeface="Arial"/>
              <a:buChar char="•"/>
            </a:pPr>
            <a:r>
              <a:rPr sz="1050" b="1">
                <a:solidFill>
                  <a:srgbClr val="1A1A2E"/>
                </a:solidFill>
                <a:latin typeface="Arial"/>
              </a:rPr>
              <a:t>A2.9</a:t>
            </a:r>
            <a:r>
              <a:rPr sz="1050" b="0">
                <a:solidFill>
                  <a:srgbClr val="1A1A2E"/>
                </a:solidFill>
                <a:latin typeface="Arial"/>
              </a:rPr>
              <a:t> принимает яхту по акту возврата, статус «свободна»</a:t>
            </a:r>
          </a:p>
          <a:p>
            <a:pPr marL="228600" indent="-228600">
              <a:spcAft>
                <a:spcPts val="600"/>
              </a:spcAft>
              <a:buClr>
                <a:srgbClr val="9307FE"/>
              </a:buClr>
              <a:buFont typeface="Arial"/>
              <a:buChar char="•"/>
            </a:pPr>
            <a:r>
              <a:rPr sz="1050" b="1">
                <a:solidFill>
                  <a:srgbClr val="1A1A2E"/>
                </a:solidFill>
                <a:latin typeface="Arial"/>
              </a:rPr>
              <a:t>Данные аренды</a:t>
            </a:r>
            <a:r>
              <a:rPr sz="1050" b="0">
                <a:solidFill>
                  <a:srgbClr val="1A1A2E"/>
                </a:solidFill>
                <a:latin typeface="Arial"/>
              </a:rPr>
              <a:t> уходят в A4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Структура процесса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250" b="1">
                <a:solidFill>
                  <a:srgbClr val="9307FE"/>
                </a:solidFill>
                <a:latin typeface="Arial"/>
              </a:rPr>
              <a:t>Бронирование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1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A2.1 Проверять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доступность яхты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04288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1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A2.2 Обновлять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статус яхты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71215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8A8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A2.10 Обрабатывать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отказ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438144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1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A2.3 Проверять /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регистрировать клиента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3716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250" b="1">
                <a:solidFill>
                  <a:srgbClr val="9307FE"/>
                </a:solidFill>
                <a:latin typeface="Arial"/>
              </a:rPr>
              <a:t>Условия проката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73736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1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A2.4 Подбирать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маршрут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304288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1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A2.5 Спрашивать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об экипаже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871215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1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A2.5.1 Заказывать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экипаж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438144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1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A2.6 Рассчитывать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стоимость аренды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005072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1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A2.7 Оформлять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договор проката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3716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250" b="1">
                <a:solidFill>
                  <a:srgbClr val="9307FE"/>
                </a:solidFill>
                <a:latin typeface="Arial"/>
              </a:rPr>
              <a:t>Ведение аренды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73736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1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A2.8 Передавать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яхту в аренду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304288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1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A2.9 Принимать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яхту из аренды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78040" y="2761487"/>
            <a:ext cx="0" cy="310897"/>
          </a:xfrm>
          <a:prstGeom prst="line">
            <a:avLst/>
          </a:prstGeom>
          <a:ln w="22225">
            <a:solidFill>
              <a:srgbClr val="9307F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89320" y="3127248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9307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9307FE"/>
                </a:solidFill>
                <a:latin typeface="Arial"/>
              </a:rPr>
              <a:t>к A4 «Учитывать расходы»</a:t>
            </a:r>
          </a:p>
          <a:p>
            <a:pPr algn="ctr"/>
            <a:r>
              <a:rPr sz="950" b="1">
                <a:solidFill>
                  <a:srgbClr val="9307FE"/>
                </a:solidFill>
                <a:latin typeface="Arial"/>
              </a:rPr>
              <a:t>(данные аренды)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84048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900" b="0">
                <a:solidFill>
                  <a:srgbClr val="555566"/>
                </a:solidFill>
                <a:latin typeface="Arial"/>
              </a:rPr>
              <a:t>Серым отмечена ветка отказа, когда яхта недоступна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4000" b="1">
                <a:solidFill>
                  <a:srgbClr val="9307FE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050" b="0">
                <a:solidFill>
                  <a:srgbClr val="555566"/>
                </a:solidFill>
                <a:latin typeface="Arial"/>
              </a:rPr>
              <a:t>внешних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sz="1050" b="0">
                <a:solidFill>
                  <a:srgbClr val="555566"/>
                </a:solidFill>
                <a:latin typeface="Arial"/>
              </a:rPr>
              <a:t>сущностей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7160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4000" b="1">
                <a:solidFill>
                  <a:srgbClr val="9307FE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057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050" b="0">
                <a:solidFill>
                  <a:srgbClr val="555566"/>
                </a:solidFill>
                <a:latin typeface="Arial"/>
              </a:rPr>
              <a:t>процесса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sz="1050" b="0">
                <a:solidFill>
                  <a:srgbClr val="555566"/>
                </a:solidFill>
                <a:latin typeface="Arial"/>
              </a:rPr>
              <a:t>на A0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59" y="137160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4000" b="1">
                <a:solidFill>
                  <a:srgbClr val="9307FE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2057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050" b="0">
                <a:solidFill>
                  <a:srgbClr val="555566"/>
                </a:solidFill>
                <a:latin typeface="Arial"/>
              </a:rPr>
              <a:t>накопителей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sz="1050" b="0">
                <a:solidFill>
                  <a:srgbClr val="555566"/>
                </a:solidFill>
                <a:latin typeface="Arial"/>
              </a:rPr>
              <a:t>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19" y="137160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4000" b="1">
                <a:solidFill>
                  <a:srgbClr val="9307FE"/>
                </a:solidFill>
                <a:latin typeface="Arial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19" y="2057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050" b="0">
                <a:solidFill>
                  <a:srgbClr val="555566"/>
                </a:solidFill>
                <a:latin typeface="Arial"/>
              </a:rPr>
              <a:t>подпроцессов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sz="1050" b="0">
                <a:solidFill>
                  <a:srgbClr val="555566"/>
                </a:solidFill>
                <a:latin typeface="Arial"/>
              </a:rPr>
              <a:t>в A2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7589520" cy="620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700"/>
              </a:spcAft>
              <a:buClr>
                <a:srgbClr val="9307FE"/>
              </a:buClr>
              <a:buFont typeface="Arial"/>
              <a:buChar char="•"/>
            </a:pPr>
            <a:r>
              <a:rPr sz="1150" b="0" dirty="0" err="1">
                <a:solidFill>
                  <a:srgbClr val="1A1A2E"/>
                </a:solidFill>
                <a:latin typeface="Arial"/>
              </a:rPr>
              <a:t>Построена функциональная модель АИС бюро проката яхт Сан-Хуана в нотации DFD: контекстная диаграмма, диаграмма A0 и детализация A2</a:t>
            </a:r>
          </a:p>
          <a:p>
            <a:pPr marL="228600" indent="-228600">
              <a:spcAft>
                <a:spcPts val="700"/>
              </a:spcAft>
              <a:buClr>
                <a:srgbClr val="9307FE"/>
              </a:buClr>
              <a:buFont typeface="Arial"/>
              <a:buChar char="•"/>
            </a:pPr>
            <a:r>
              <a:rPr sz="1150" b="0" dirty="0" err="1">
                <a:solidFill>
                  <a:srgbClr val="1A1A2E"/>
                </a:solidFill>
                <a:latin typeface="Arial"/>
              </a:rPr>
              <a:t>Накопители</a:t>
            </a:r>
            <a:r>
              <a:rPr sz="1150" b="0" dirty="0">
                <a:solidFill>
                  <a:srgbClr val="1A1A2E"/>
                </a:solidFill>
                <a:latin typeface="Arial"/>
              </a:rPr>
              <a:t> D1–D8 </a:t>
            </a:r>
            <a:r>
              <a:rPr sz="1150" b="0" dirty="0" err="1">
                <a:solidFill>
                  <a:srgbClr val="1A1A2E"/>
                </a:solidFill>
                <a:latin typeface="Arial"/>
              </a:rPr>
              <a:t>станут</a:t>
            </a:r>
            <a:r>
              <a:rPr sz="115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1A2E"/>
                </a:solidFill>
                <a:latin typeface="Arial"/>
              </a:rPr>
              <a:t>основой</a:t>
            </a:r>
            <a:r>
              <a:rPr sz="115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1A2E"/>
                </a:solidFill>
                <a:latin typeface="Arial"/>
              </a:rPr>
              <a:t>для</a:t>
            </a:r>
            <a:r>
              <a:rPr sz="115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1A2E"/>
                </a:solidFill>
                <a:latin typeface="Arial"/>
              </a:rPr>
              <a:t>инфологической</a:t>
            </a:r>
            <a:r>
              <a:rPr sz="115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1A2E"/>
                </a:solidFill>
                <a:latin typeface="Arial"/>
              </a:rPr>
              <a:t>модели</a:t>
            </a:r>
            <a:r>
              <a:rPr sz="115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1A2E"/>
                </a:solidFill>
                <a:latin typeface="Arial"/>
              </a:rPr>
              <a:t>данных</a:t>
            </a:r>
            <a:r>
              <a:rPr sz="1150" b="0" dirty="0">
                <a:solidFill>
                  <a:srgbClr val="1A1A2E"/>
                </a:solidFill>
                <a:latin typeface="Arial"/>
              </a:rPr>
              <a:t> (ERD) </a:t>
            </a:r>
            <a:r>
              <a:rPr sz="1150" b="0" dirty="0" err="1">
                <a:solidFill>
                  <a:srgbClr val="1A1A2E"/>
                </a:solidFill>
                <a:latin typeface="Arial"/>
              </a:rPr>
              <a:t>на</a:t>
            </a:r>
            <a:r>
              <a:rPr sz="115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1A2E"/>
                </a:solidFill>
                <a:latin typeface="Arial"/>
              </a:rPr>
              <a:t>следующем</a:t>
            </a:r>
            <a:r>
              <a:rPr sz="1150" b="0" dirty="0">
                <a:solidFill>
                  <a:srgbClr val="1A1A2E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1A2E"/>
                </a:solidFill>
                <a:latin typeface="Arial"/>
              </a:rPr>
              <a:t>этапе</a:t>
            </a:r>
            <a:endParaRPr sz="1150" b="0" dirty="0">
              <a:solidFill>
                <a:srgbClr val="1A1A2E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0"/>
          <p:cNvSpPr txBox="1"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1104</Words>
  <Application>Microsoft Office PowerPoint</Application>
  <PresentationFormat>Экран (16:9)</PresentationFormat>
  <Paragraphs>174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Calibri</vt:lpstr>
      <vt:lpstr>Golos Text</vt:lpstr>
      <vt:lpstr>Golos Text SemiBold</vt:lpstr>
      <vt:lpstr>Arial</vt:lpstr>
      <vt:lpstr>Тема1</vt:lpstr>
      <vt:lpstr>Команда «RichBros»  Функциональная модель АИС бюро проката яхт Сан-Хуана</vt:lpstr>
      <vt:lpstr>Предметная область</vt:lpstr>
      <vt:lpstr>Этап 1. Назначение ИС и задачи</vt:lpstr>
      <vt:lpstr>Методы и средства</vt:lpstr>
      <vt:lpstr>Этапы 2–3. Сущности и потоки</vt:lpstr>
      <vt:lpstr>Этап 4. Контекстная диаграмма A-0</vt:lpstr>
      <vt:lpstr>Этап 5. Матрица списка событий</vt:lpstr>
      <vt:lpstr>Этап 6. Диаграмма A0</vt:lpstr>
      <vt:lpstr>A0: прокат, учёт яхт и расходов</vt:lpstr>
      <vt:lpstr>A0: обслуживание и ремонт</vt:lpstr>
      <vt:lpstr>Этап 6. Детализация процесса A2</vt:lpstr>
      <vt:lpstr>A2: заключение договора проката</vt:lpstr>
      <vt:lpstr>A2: ведение аренды</vt:lpstr>
      <vt:lpstr>Структура процесса A2</vt:lpstr>
      <vt:lpstr>Выводы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</dc:creator>
  <cp:lastModifiedBy>Александр Пясковский</cp:lastModifiedBy>
  <cp:revision>5</cp:revision>
  <dcterms:created xsi:type="dcterms:W3CDTF">2014-06-27T12:30:22Z</dcterms:created>
  <dcterms:modified xsi:type="dcterms:W3CDTF">2026-10-01T10:57:38Z</dcterms:modified>
</cp:coreProperties>
</file>